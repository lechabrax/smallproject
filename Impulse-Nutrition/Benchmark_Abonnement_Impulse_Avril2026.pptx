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1710267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05A28"/>
                </a:solidFill>
                <a:latin typeface="Calibri"/>
              </a:rPr>
              <a:t>Modèles d'Abonnement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Nutrition Sportive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4572000" cy="3657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  <a:latin typeface="Calibri"/>
              </a:rPr>
              <a:t>Analyse stratégique &amp; recommandation pour le lancement Impulse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4F7"/>
                </a:solidFill>
                <a:latin typeface="Calibri"/>
              </a:rPr>
              <a:t>Avril 2026  |  Confidentiel — Usage interne comité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32"/>
            <a:ext cx="1389592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Contexte &amp; Objectif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B4B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Qu'est-ce qui fait un bon modèle
d'abonnement nutrition sportive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Benchmark de 8 marques FR/international
sur 4 axes : offre, périmètre, UX, flexibilité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B4B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À partir de quel panier la
livraison offerte est-elle rentable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0040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Modélisation financière avec 3 scénarios
prix × marge × coût logistique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7315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B4B"/>
                </a:solidFill>
                <a:latin typeface="Calibri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Quel modèle concret
recommander à Impulse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040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Produits éligibles, remise, fréquences,
wording et positionnement 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577840"/>
            <a:ext cx="12188952" cy="7315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Périmètre : 8 marques analysées  •  Nutri&amp;Co  •  Nutrimuscle  •  Novoma  •  Nutripure  •  Cuure  •  Decathlon  •  Aqeelab  •  MyProtein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32"/>
            <a:ext cx="1389592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3200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Méthodologie &amp; Périmètre d'analyse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74320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457200" cy="32004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Modèle
commercial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Remise %, fréquences,
limite d'engagement,
livraison, flexibilité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457200" cy="32004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Périmètre
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Gammes éligibles,
exclusions, ticket
moyen estimé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4320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457200" cy="32004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UX &amp;
fiche produit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Module abo, wording,
page dédiée, homepage,
navigation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457200" cy="32004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173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0574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Évaluation
synthétique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974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Points forts/faibles,
score /5 commercial
+ /5 UX → score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Grille de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578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• Score commercial /5 : Remise (2pts) + Flexibilité (1.5pts) + Fréquences (1pt) + Livraison (0.5pt)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53212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• Score UX /5 : Module produit (1pt) + Wording (1pt) + Page dédiée (1pt) + Homepage (1pt) + Navigation (1pt)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064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• Score global = moyenne des deux 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Sources : sites officiels, FAQ, pages abonnement  •  Date de collecte : Avril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Nutri&amp;Co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4.0/5</a:t>
            </a:r>
          </a:p>
        </p:txBody>
      </p:sp>
      <p:pic>
        <p:nvPicPr>
          <p:cNvPr id="9" name="Picture 8" descr="nutriandc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Jusqu'à 15% d'économies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 / trimestrielle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❌ 4,50€ relais / 6,50€ domicile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à tout moment depuis l'espace client, sans frais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Remise jusqu'à 15% parmi les plus généreuses du marché FR 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Email de préavis 48h avant expédition — contrôle maximal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Seuils livraison offerte élevés (69€ relais / 89€ domicile)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Seulement 2 fréquences disponibles (mensuelle / trimestrielle)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"Jusqu'à 15% d'économies • sans engagement • Modifiable facilement depuis votre compte"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  4.0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Nutrimuscle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4.5/5</a:t>
            </a:r>
          </a:p>
        </p:txBody>
      </p:sp>
      <p:pic>
        <p:nvPicPr>
          <p:cNvPr id="9" name="Picture 8" descr="nutrimusc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5% dès la 1ère livraison, puis 15% à partir de la 2ème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 / bimestrielle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à tout moment depuis 'Mes Abonnements', sans frais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Livraison TOUJOURS offerte sur les abonnements (avantage unique dans le benchmark)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250+ produits éligibles — périmètre très 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Remise 1ère livraison faible (5%) — friction à l'entrée vs concurrents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Seulement 2 fréquences (mensuelle / bimestrielle)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"S'abonner et économiser — 5% dès la 1ère livraison, 15% à partir de la 2ème"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  4.2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Novoma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3.8/5</a:t>
            </a:r>
          </a:p>
        </p:txBody>
      </p:sp>
      <p:pic>
        <p:nvPicPr>
          <p:cNvPr id="9" name="Picture 8" descr="novom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10% de réduction permanente sur chaque renouvellement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30 jours / 60 jours / 90 jours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❌ 3,50€ domicile (réduit vs 4,90€ standard)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un clic depuis espace 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3 fréquences disponibles (30/60/90 jours) — le plus flexible du benchmark FR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Livraison abonnés à tarif réduit (3,50€) + offerte dès 50€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Remise de 10% parmi les plus basses — moins attractif que MyProtein ou Aqeelab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Livraison non offerte systématiquement sous 50€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"Abonnez-vous et économisez 10%"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  3.9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3.8/5</a:t>
            </a:r>
          </a:p>
        </p:txBody>
      </p:sp>
      <p:pic>
        <p:nvPicPr>
          <p:cNvPr id="9" name="Picture 8" descr="cuur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Minimum -10% abonnement + codes promo 15-30% sur 1ère commande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 / bimestrielle / trimestrielle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par email support@cuure.com ou tableau de bord cli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Modèle 100% abonnement = UX entièrement optimisée autour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Personnalisation forte = attachement client élevé, churn plus faible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Modèle non transposable directement pour Impulse (gamme sportive ≠ santé personnalisée)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Remise réelle difficile à évaluer vs achat unitaire (pas de produits individuels au même prix)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"Votre cure personnalisée, adaptée à vos besoins, livrée chaque mois"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  4.4 /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MyProtein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5.0/5</a:t>
            </a:r>
          </a:p>
        </p:txBody>
      </p:sp>
      <p:pic>
        <p:nvPicPr>
          <p:cNvPr id="9" name="Picture 8" descr="myprotei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30% de base, jusqu'à 45% lors de promotions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 / personnalisable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à tout moment depuis 'Mon Compte / Mes abonnements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Remise 30% de base (la plus forte du marché après promo) = argument massue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Modification saveurs possible = résout le problème whey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Marque internationale — positionnement low cost/volume ≠ premium 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Remises très agressives peuvent dévaluer la marque perçue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"Abonnement — Jusqu'à 45% de réduction sans contrat"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⭐⭐⭐⭐⭐  4.8 /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Decathlon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3.8/5</a:t>
            </a:r>
          </a:p>
        </p:txBody>
      </p:sp>
      <p:pic>
        <p:nvPicPr>
          <p:cNvPr id="9" name="Picture 8" descr="decathl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~10% courant, jusqu'à 15% sur certains produits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à tout moment depuis espace 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Site abonnement dédié professionnel (abonnement.decathlon.fr)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Livraison offerte systématiquement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UX fragmentée : site abonnement SÉPARÉ du site principal = friction de découverte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Wording peu inspirant et générique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"Abonnement mensuel | Modifiable à tout moment | Sans engagement | À partir de 12,74€/mois"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  3.4 /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Aqeelab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Abonnement 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3.5/5</a:t>
            </a:r>
          </a:p>
        </p:txBody>
      </p:sp>
      <p:pic>
        <p:nvPicPr>
          <p:cNvPr id="9" name="Picture 8" descr="aqeelab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20% de remise permanente sur chaque commande mensuelle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Fréquences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mensuelle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2 mois minimum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Annulation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depuis espace client après 2 mois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4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0233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20% de remise = LA PLUS ÉLEVÉE du benchmark pour un subscribe &amp; save classique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Livraison offerte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720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8463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Engagement minimum 2 mois = frein à l'entrée vs concurrents 'sans engagement'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206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1 seule fréquence (mensuelle) — pas de flexibilité sur le rythme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40680"/>
            <a:ext cx="5971032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440680"/>
            <a:ext cx="54864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58968"/>
            <a:ext cx="583387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B4B"/>
                </a:solidFill>
                <a:latin typeface="Calibri"/>
              </a:rPr>
              <a:t>"20% de remise automatique chaque mois sur l'ensemble de nos produits"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⭐⭐⭐⭐  3.8 /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37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Nutripure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❌ Pas d'abonnement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5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4F7"/>
                </a:solidFill>
                <a:latin typeface="Calibri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74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5A28"/>
                </a:solidFill>
                <a:latin typeface="Calibri"/>
              </a:rPr>
              <a:t>0.5/5</a:t>
            </a:r>
          </a:p>
        </p:txBody>
      </p:sp>
      <p:pic>
        <p:nvPicPr>
          <p:cNvPr id="9" name="Picture 8" descr="nutripur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51560"/>
            <a:ext cx="57607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5156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97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Abonnement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❌ Absent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Alternative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60020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Programme de fidélité Nutripure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57400"/>
            <a:ext cx="5971032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Fidélité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0312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10% du montant de chaque commande crédité en récompenses, valables 12 mois, écha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9710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B4B"/>
                </a:solidFill>
                <a:latin typeface="Calibri"/>
              </a:rPr>
              <a:t>Hypothèse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06040"/>
            <a:ext cx="4599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Choix délibéré lié à la complexité SKU : gamme whey avec nombreuses saveurs crée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154680"/>
            <a:ext cx="5971032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4612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A86A"/>
                </a:solidFill>
                <a:latin typeface="Calibri"/>
              </a:rPr>
              <a:t>Points forts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52044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Programme fidélité 10% = équivalent partiel d'une remise abonnement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79476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✅ Catalogue très large et qualité reconnue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06908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Friction / Points faibles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34340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Absence d'abonnement = pas de revenus récurrents prédictibles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617720"/>
            <a:ext cx="5971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⚠️ Pas de livraison automatique = friction à la réachat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6126480"/>
            <a:ext cx="5971032" cy="5943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6144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6144768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A28"/>
                </a:solidFill>
                <a:latin typeface="Calibri"/>
              </a:rPr>
              <a:t>  0.2 /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Tableau de Synthèse Comparatif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164592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7899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Marque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051560"/>
            <a:ext cx="109728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0789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Remise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51560"/>
            <a:ext cx="137160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078992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Fréquences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118872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78992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Livraison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051560"/>
            <a:ext cx="100584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0789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Sans engag.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051560"/>
            <a:ext cx="105156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07899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Score com.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051560"/>
            <a:ext cx="91440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07899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Score 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051560"/>
            <a:ext cx="1280160" cy="38404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07899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Score global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435608"/>
            <a:ext cx="16459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50876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MyProtein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1435608"/>
            <a:ext cx="109728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20" y="150876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1435608"/>
            <a:ext cx="13716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150876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2 opt.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435608"/>
            <a:ext cx="11887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50876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1435608"/>
            <a:ext cx="100584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1508760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435608"/>
            <a:ext cx="10515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5087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5.0/5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1435608"/>
            <a:ext cx="9144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150876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1435608"/>
            <a:ext cx="12801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58200" y="1435608"/>
            <a:ext cx="1280160" cy="475488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5087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A86A"/>
                </a:solidFill>
                <a:latin typeface="Calibri"/>
              </a:rPr>
              <a:t>4.8/5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1956816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2029968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Cuure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1956816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202996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1956816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202996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 opt.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1956816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202996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1956816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0" y="2029968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1956816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202996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3.8/5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1956816"/>
            <a:ext cx="914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202996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5.0/5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1956816"/>
            <a:ext cx="1280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58200" y="1956816"/>
            <a:ext cx="1280160" cy="475488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202996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A86A"/>
                </a:solidFill>
                <a:latin typeface="Calibri"/>
              </a:rPr>
              <a:t>4.4/5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2478024"/>
            <a:ext cx="16459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2551176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Nutrimuscle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2478024"/>
            <a:ext cx="109728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20" y="255117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2478024"/>
            <a:ext cx="13716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71800" y="2551176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2 opt.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2478024"/>
            <a:ext cx="11887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2551176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2478024"/>
            <a:ext cx="100584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2551176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2478024"/>
            <a:ext cx="10515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7960" y="255117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4.5/5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43800" y="2478024"/>
            <a:ext cx="9144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89520" y="2551176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4.0/5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58200" y="2478024"/>
            <a:ext cx="12801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58200" y="2478024"/>
            <a:ext cx="1280160" cy="475488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0" y="2551176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A86A"/>
                </a:solidFill>
                <a:latin typeface="Calibri"/>
              </a:rPr>
              <a:t>4.2/5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2999232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8600" y="3072384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Nutri&amp;Co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0" y="299923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74520" y="307238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2999232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71800" y="3072384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2 opt.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97680" y="299923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43400" y="3072384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Seuil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2999232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32120" y="3072384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92240" y="2999232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37960" y="307238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4.0/5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3800" y="2999232"/>
            <a:ext cx="914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89520" y="3072384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4.0/5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58200" y="2999232"/>
            <a:ext cx="1280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458200" y="2999232"/>
            <a:ext cx="1280160" cy="475488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03920" y="30723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A86A"/>
                </a:solidFill>
                <a:latin typeface="Calibri"/>
              </a:rPr>
              <a:t>4.0/5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3520439"/>
            <a:ext cx="16459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3593591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Novoma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0" y="3520439"/>
            <a:ext cx="109728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74520" y="3593591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26080" y="3520439"/>
            <a:ext cx="13716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71800" y="3593591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 opt.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7680" y="3520439"/>
            <a:ext cx="11887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43400" y="3593591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Seuil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0" y="3520439"/>
            <a:ext cx="100584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32120" y="3593591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3520439"/>
            <a:ext cx="10515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37960" y="35935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3.8/5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43800" y="3520439"/>
            <a:ext cx="9144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89520" y="3593591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4.0/5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58200" y="3520439"/>
            <a:ext cx="12801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58200" y="3520439"/>
            <a:ext cx="1280160" cy="475488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03920" y="3593591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7A00"/>
                </a:solidFill>
                <a:latin typeface="Calibri"/>
              </a:rPr>
              <a:t>3.9/5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404164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8600" y="411480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Aqeelab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4041648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74520" y="411480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20%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26080" y="4041648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971800" y="411480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 opt.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97680" y="404164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343400" y="411480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0" y="4041648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32120" y="4114800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⚠️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92240" y="4041648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37960" y="411480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3.5/5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543800" y="4041648"/>
            <a:ext cx="914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589520" y="411480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4.0/5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58200" y="4041648"/>
            <a:ext cx="1280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458200" y="4041648"/>
            <a:ext cx="1280160" cy="475488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03920" y="411480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7A00"/>
                </a:solidFill>
                <a:latin typeface="Calibri"/>
              </a:rPr>
              <a:t>3.8/5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2880" y="4562856"/>
            <a:ext cx="16459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28600" y="4636008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Decathlon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28800" y="4562856"/>
            <a:ext cx="109728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874520" y="463600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926080" y="4562856"/>
            <a:ext cx="13716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71800" y="463600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1 opt.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97680" y="4562856"/>
            <a:ext cx="118872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343400" y="463600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 Offerte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86400" y="4562856"/>
            <a:ext cx="100584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532120" y="4636008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4562856"/>
            <a:ext cx="10515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537960" y="46360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3.8/5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43800" y="4562856"/>
            <a:ext cx="91440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589520" y="463600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3.0/5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58200" y="4562856"/>
            <a:ext cx="1280160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458200" y="4562856"/>
            <a:ext cx="1280160" cy="475488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503920" y="463600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7A00"/>
                </a:solidFill>
                <a:latin typeface="Calibri"/>
              </a:rPr>
              <a:t>3.4/5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82880" y="508406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8600" y="5157216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B4B"/>
                </a:solidFill>
                <a:latin typeface="Calibri"/>
              </a:rPr>
              <a:t>Nutripure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28800" y="5084064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57216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926080" y="5084064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971800" y="5157216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297680" y="5084064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43400" y="5157216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486400" y="5084064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532120" y="5157216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❌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92240" y="5084064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537960" y="515721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0.5/5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43800" y="5084064"/>
            <a:ext cx="914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89520" y="5157216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0.0/5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458200" y="5084064"/>
            <a:ext cx="1280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458200" y="5084064"/>
            <a:ext cx="128016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503920" y="5157216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  <a:latin typeface="Calibri"/>
              </a:rPr>
              <a:t>0.2/5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82880" y="6217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A4A"/>
                </a:solidFill>
                <a:latin typeface="Calibri"/>
              </a:rPr>
              <a:t>Légende :  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05840" y="6309360"/>
            <a:ext cx="228600" cy="22860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280160" y="6217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≥ 4.0 — Excellent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566160" y="6309360"/>
            <a:ext cx="228600" cy="228600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40480" y="6217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3.0–4.0 — Bon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669280" y="6309360"/>
            <a:ext cx="228600" cy="228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943600" y="6217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&lt; 3.0 — Insuffisant / Absent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Analyse Rentabilité Logistique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B4B"/>
                </a:solidFill>
                <a:latin typeface="Calibri"/>
              </a:rPr>
              <a:t>⚠️  Produit solo (ex: créatine 300g)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922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Prix affiché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9222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15€ TTC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677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Après remise 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6771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13.50€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88336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Marge brute (45%)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4320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6.08€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Livraison offerte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1868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−5€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39312"/>
            <a:ext cx="36576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850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Contribution nette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1.08€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09728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097280"/>
            <a:ext cx="3657600" cy="73152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2344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B4B"/>
                </a:solidFill>
                <a:latin typeface="Calibri"/>
              </a:rPr>
              <a:t>✅  Produit mid-range (ex: oméga-3 60 caps)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73736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17922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Prix affiché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79222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35€ TTC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212848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22677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Après remise -10%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6771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31.50€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2688336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2743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Marge brute (45%)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74320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14.18€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163824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Livraison offerte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21868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−5€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639312"/>
            <a:ext cx="3657600" cy="59436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6850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Contribution nette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9.18€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097280"/>
            <a:ext cx="3657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1097280"/>
            <a:ext cx="3657600" cy="7315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B4B"/>
                </a:solidFill>
                <a:latin typeface="Calibri"/>
              </a:rPr>
              <a:t>🔥  Pack 2-3 produits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73736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17922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Prix affiché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179222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55€ TTC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2212848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22677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Après remise -10%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26771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49.50€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688336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27432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Marge brute (45%)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274320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22.28€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3163824"/>
            <a:ext cx="36576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Livraison offerte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321868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2B4B"/>
                </a:solidFill>
                <a:latin typeface="Calibri"/>
              </a:rPr>
              <a:t>−5€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3639312"/>
            <a:ext cx="3657600" cy="5943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6850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Contribution nette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17.28€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349240"/>
            <a:ext cx="11612880" cy="10058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349240"/>
            <a:ext cx="109728" cy="100584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394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4F7"/>
                </a:solidFill>
                <a:latin typeface="Calibri"/>
              </a:rPr>
              <a:t>💡  Seuil recommandé pour livraison offerte rentable (marge 45%, logistique 5€)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37667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05A28"/>
                </a:solidFill>
                <a:latin typeface="Calibri"/>
              </a:rPr>
              <a:t>Panier minimum : 25€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2F4F7"/>
                </a:solidFill>
                <a:latin typeface="Calibri"/>
              </a:rPr>
              <a:t>(Calcul : L ÷ (m × (1−d)) = 5 ÷ (0,45 × 0,90) = 12,35€ → arrondi opérationnel : 25€ min recommandé pour sécurité)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Recommandation — Produits Éligibles au Lancement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3840480" cy="530352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3840480" cy="54864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 LANCEMENT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A86A"/>
                </a:solidFill>
                <a:latin typeface="Calibri"/>
              </a:rPr>
              <a:t>Candidats naturels à l'abonnement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Créatine monohydrate (sans goût, récurrence mensuelle naturelle)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Oméga-3 (60-90 caps, cycle de 1-2 mois)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Magnésium bisglycinate (sans goût, prise quotidienne)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Collagène hydrolysé neutre (récurrence élevée)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23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Multivitamines (prise quotidienne, cycle de 30 jours)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5303520"/>
            <a:ext cx="3840480" cy="27432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53766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  <a:latin typeface="Calibri"/>
              </a:rPr>
              <a:t>Critères : récurrence naturelle mensuelle + pas de variante goût + SKU simple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051560"/>
            <a:ext cx="3840480" cy="5303520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051560"/>
            <a:ext cx="384048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0789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⚠️  LANCEMENT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664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À traiter avec précautions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Whey (⚠️ forcer 1 seul goût par abonnement + permettre modification avant envoi)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Preworkout (⚠️ cycles d'utilisation variables, pas mensuel systématiquement)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BCAA / EAA aromatisés (idem risque goût)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5303520"/>
            <a:ext cx="384048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53766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  <a:latin typeface="Calibri"/>
              </a:rPr>
              <a:t>Action requise : modification de goût possible avant envoi (comme MyProtein)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59" y="1051560"/>
            <a:ext cx="3840480" cy="5303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1051560"/>
            <a:ext cx="3840480" cy="5486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9" y="10789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 HORS PÉRIMÈTRE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1664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3E3E"/>
                </a:solidFill>
                <a:latin typeface="Calibri"/>
              </a:rPr>
              <a:t>À exclure au lancement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Produits saisonniers (vitamine D hiver, etc.)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Gammes en révision de formule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017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Produits à faible récurrence (&lt; 1× / 2 mois)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9" y="5303520"/>
            <a:ext cx="3840480" cy="2743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53766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  <a:latin typeface="Calibri"/>
              </a:rPr>
              <a:t>Raison : risque de rupture de formule + faible valeur LTV abonnement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Recommandation — Modèle Commercial Impulse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11795760" cy="914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64008" cy="9144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2B4B"/>
                </a:solidFill>
                <a:latin typeface="Calibri"/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612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Remise abonnement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−10% sur chaque livraison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70432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17043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Aligné sur le marché FR premium (Nutri&amp;Co, Novoma). Évite la dévaluation de marque
provoquée par les remises agressives type MyProtein (−30%). Justifié par l'analyse
de rentabilité : rentable dès 15€ de panier.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03120"/>
            <a:ext cx="11795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103120"/>
            <a:ext cx="64008" cy="9144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945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2B4B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671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Fréquences proposées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1 mois / 2 mois / 3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176272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17627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 options = standard de référence (MyProtein, Novoma). Permet d'adapter
à chaque type de produit (créatine mensuelle, oméga-3 bimestriel).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108960"/>
            <a:ext cx="11795760" cy="914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108960"/>
            <a:ext cx="64008" cy="9144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2004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2B4B"/>
                </a:solidFill>
                <a:latin typeface="Calibri"/>
              </a:rPr>
              <a:t>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Livraison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930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Offerte à partir de 25€ de panier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182112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318211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Seuil issu du modèle de rentabilité (marge 45%, logistique 5€).
Sous 25€ : livraison à 4,50€ relais / 6,50€ domicile — cohérent Nutri&amp;Co.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114800"/>
            <a:ext cx="11795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4114800"/>
            <a:ext cx="64008" cy="9144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2062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2B4B"/>
                </a:solidFill>
                <a:latin typeface="Calibri"/>
              </a:rP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788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49884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Sans engagement + bonus fidélité à 6 mois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4187952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18795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Sans engagement = levier de conversion maximal. Option : offrir un avantage
(ex: produit offert ou remise +5%) après 6 livraisons consécutives.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5120640"/>
            <a:ext cx="11795760" cy="914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5120640"/>
            <a:ext cx="64008" cy="9144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212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2B4B"/>
                </a:solidFill>
                <a:latin typeface="Calibri"/>
              </a:rPr>
              <a:t>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8464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Panier minimum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0468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25€ pour activer l'abonnement avec livraison offerte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5193792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519379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Basé sur l'analyse de rentabilité. Exclut les produits seuls trop petits
et oriente vers les packs ou produits &gt;25€ en V1.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Recommandation — UX &amp; Positionnement Impulse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💬  Wording suggéré (module fiche produit)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822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09728" cy="82296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2B4B"/>
                </a:solidFill>
                <a:latin typeface="Calibri"/>
              </a:rPr>
              <a:t>"Abonnez-vous &amp; économisez 10% — Livraison offerte dès 25€ — Pause quand vous voulez"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4B"/>
                </a:solidFill>
                <a:latin typeface="Calibri"/>
              </a:rPr>
              <a:t>📍  Points d'entrée recommandés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3749039" cy="3063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3749039" cy="4572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Fiche produit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93008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Module au-dessus du bouton 'Ajouter au panier'
Options : Achat unique | S'abonner et économiser
Placement : AVANT le CTA (best practice MyProtein)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971800"/>
            <a:ext cx="3749039" cy="3063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971800"/>
            <a:ext cx="3749039" cy="4572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3017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493008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Bandeau ou encadré hero : 'Commandez en abonnement
et économisez 10% à chaque livraison'
Test A/B recommandé vs version sans mise en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971800"/>
            <a:ext cx="3749039" cy="3063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971800"/>
            <a:ext cx="3749039" cy="4572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017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Navigation &amp;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93008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• Entrée 'Abonnement' dans le menu principal
• Email post-achat J+14 : 'Passez à l'abonnement'
• Email de rappel à J-5 avant épuisement estimé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236208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B4B"/>
                </a:solidFill>
                <a:latin typeface="Calibri"/>
              </a:rPr>
              <a:t>📌  Référence benchmark : MyProtein (score UX 4.5/5) place le module AVANT le CTA avec 2 options visuellement distinctes — à reproduire.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mpul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2827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Prochaines Étapes — Roadmap Lancement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83464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2834640" cy="5029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247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Choix technologique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Shopify Subscriptions natif (gratuit, simple)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6771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Recharge / Bold / Loop (plus flexible, payant)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98063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Décision : budget vs. besoin de personnalisation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097280"/>
            <a:ext cx="283464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097280"/>
            <a:ext cx="2834640" cy="50292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1247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Juin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38988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Setup technique &amp; sélection SKUs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737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Intégration de l'app choisie sur Shopify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26771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Sélection des 5 produits V1 éligibles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798063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Configuration remise 10% + seuil 25€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097280"/>
            <a:ext cx="283464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097280"/>
            <a:ext cx="2834640" cy="502920"/>
          </a:xfrm>
          <a:prstGeom prst="rect">
            <a:avLst/>
          </a:prstGeom>
          <a:solidFill>
            <a:srgbClr val="2D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11247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Juillet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138988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Lancement bêta fermé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1737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Invitation clients existants (newsletter)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26771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Test UX module fiche produit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798063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Mesure taux de souscription &amp; churn J30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0576" y="1097280"/>
            <a:ext cx="283464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0576" y="1097280"/>
            <a:ext cx="2834640" cy="502920"/>
          </a:xfrm>
          <a:prstGeom prst="rect">
            <a:avLst/>
          </a:prstGeom>
          <a:solidFill>
            <a:srgbClr val="5A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11247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Août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138988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Lancement public + push 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1737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Ouverture à tous les visiteurs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226771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Email campaign + social 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798063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  <a:latin typeface="Calibri"/>
              </a:rPr>
              <a:t>• Suivi KPIs : LTV abonnés vs one-shot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263640"/>
            <a:ext cx="11795760" cy="4572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318504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KPIs post-lancement :  Taux de souscription  •  Churn mensuel (cible &lt;10%)  •  LTV abonnés vs one-shot  •  Panier moyen abonnés  •  Taux de pause vs résiliation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